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96" y="-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282F5-E44E-4612-8F4B-89E0DAE3BA76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41D08-CBDE-4DB4-8582-D929D530B16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056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48ed1696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d48ed1696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F6F1-6157-B3D8-54C5-67F35243C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12EE4-1345-AB9D-30CF-CCAA64044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71517-B83E-8F65-54E9-3798ACCDA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0E5FC-CBFB-FA59-BBB8-EAD71F93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7E0F4-59E7-81B6-9253-79545EC5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222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B566A-2B6B-E665-3B90-929F8119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D393D-37D7-1EA4-EB21-87EC8AFDC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42A3B-3858-9F3B-3EC4-93E3E40E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59003-9524-7150-3EFC-36D7BDBB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D698A-01DE-4007-BD30-EDA50E6D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042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A05F-B4FF-FADB-0673-779297B95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4802B-50D0-8EF3-40BE-518FFEA09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69FD5-4A76-AB9A-B83B-223B7E6A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2E1F3-92AD-6B32-3696-436426C4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7602C-7B7D-AFD0-0DE1-64133EA0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995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E6CC-B29F-D8F2-83B3-BC66E09E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3E7BB-33B9-E78D-3626-38BAF8FCC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6A1FE-ACBE-9FB0-C22E-2E15EC7BF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5ABE9-1CDB-6D64-EBEA-F66DC414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0010A-00B2-68DE-256C-3656A428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E147D-77E0-1BA6-F0FD-EDB3162FF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091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18C6-BBC3-24C3-83F1-21D48E554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1B0B0-8042-9BDC-DF0B-7EDAF954D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AF1F5-8450-95B6-EDB1-B7720AF2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2EF7C-CF7F-1CA7-3B38-B46BC3FF2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5095C-C21D-069E-6364-0D5438759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C236C9-144C-B669-0C3A-381B9F24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F861E6-73F9-A45C-2C8A-00554838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180A2A-FA5F-B493-68A3-DBAC19EF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163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47F6-A3B7-40FC-6082-774AFADB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B3FB8-781E-F721-A213-9A5539CD6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83765-435E-8AF1-933B-BA11B52C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30A37-B41D-F656-3662-1151B3FFD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210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810F5-E5AC-BCF5-58D3-1C3411C9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397D7-62D0-3E95-BB28-90579C9E4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BF78F-85F2-A29C-F825-1422B6DC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839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98BF-AAC9-165D-2215-96E6BA74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38F58-F960-083E-5932-F0FB5827E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E4832-1254-5AC6-3465-59986761E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FCD62-468E-0E07-EFB6-FDB6C409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798A2-A660-80EC-B173-0117660F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556B0-6F4A-ED62-81C3-4E9C899A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4941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D5CD-395E-663C-5093-8D6E4032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02EF8-9AC1-AF68-258F-0B1364615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5E097-DF86-3102-1A04-66B4CFF32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AA59E-5EFF-D95F-3F14-26BCC561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C1248-F468-EA98-20BC-B9CDD3F4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1817C-792B-07A8-6B09-91D7907F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09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F0B0B-AA08-3B11-9EA4-7D30F661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8B117-065D-008B-5CBF-F5CA97268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74979-5738-577E-0FAE-6D7E51E8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B9200-EAC3-5472-D5B8-814CE2FB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3124D-02EE-DB43-D114-1B43EF37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4600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AE048-AB3B-2D4F-BACE-DF1CD9EF0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CDF1F-762B-4E5B-D493-7E6349C1B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8AB93-1D30-4C3E-6AA6-52C6172A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27E37-DDFC-4961-774D-48DB8D84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58426-0134-9216-B28F-C19E8026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911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4836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96453-FE88-09E3-3C24-723F9D35A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C76CE-F620-0CFF-A51A-1BCED6BAC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86879-FE91-BE42-9C81-D6BD56402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681F1-EE08-4CEF-B306-1B95A89DC334}" type="datetimeFigureOut">
              <a:rPr lang="en-ID" smtClean="0"/>
              <a:t>23/02/2026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1DF99-73DE-4FFC-55F1-59469B423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35753-AFF7-A292-3680-026A7E379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C1D1A-7EB5-41C6-B7CF-8A4441AEA20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355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openxmlformats.org/officeDocument/2006/relationships/hyperlink" Target="https://doi.org/10.1016/j.trf.2026.103528" TargetMode="External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C2BE-6A58-65EC-1B59-A1BC1A8688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E4263-15C5-4D73-88CC-7A5F8501D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138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32;p34">
            <a:extLst>
              <a:ext uri="{FF2B5EF4-FFF2-40B4-BE49-F238E27FC236}">
                <a16:creationId xmlns:a16="http://schemas.microsoft.com/office/drawing/2014/main" id="{176DE5C4-A0FD-D420-0F74-B15C66284EF8}"/>
              </a:ext>
            </a:extLst>
          </p:cNvPr>
          <p:cNvSpPr/>
          <p:nvPr/>
        </p:nvSpPr>
        <p:spPr>
          <a:xfrm>
            <a:off x="353794" y="2260475"/>
            <a:ext cx="5380565" cy="143980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04792" indent="-304792">
              <a:buFont typeface="+mj-lt"/>
              <a:buAutoNum type="arabicPeriod"/>
            </a:pPr>
            <a:endParaRPr lang="en-ID" sz="1067" dirty="0"/>
          </a:p>
        </p:txBody>
      </p:sp>
      <p:sp>
        <p:nvSpPr>
          <p:cNvPr id="78" name="Google Shape;78;p15"/>
          <p:cNvSpPr txBox="1"/>
          <p:nvPr/>
        </p:nvSpPr>
        <p:spPr>
          <a:xfrm>
            <a:off x="478567" y="70130"/>
            <a:ext cx="11036800" cy="6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en-ID" sz="2667" b="1" dirty="0"/>
              <a:t>Background, workflow, Benchmark Competitor</a:t>
            </a:r>
          </a:p>
        </p:txBody>
      </p:sp>
      <p:sp>
        <p:nvSpPr>
          <p:cNvPr id="79" name="Google Shape;79;p15"/>
          <p:cNvSpPr/>
          <p:nvPr/>
        </p:nvSpPr>
        <p:spPr>
          <a:xfrm flipH="1">
            <a:off x="220004" y="276433"/>
            <a:ext cx="412227" cy="320697"/>
          </a:xfrm>
          <a:prstGeom prst="arc">
            <a:avLst>
              <a:gd name="adj1" fmla="val 16024965"/>
              <a:gd name="adj2" fmla="val 193265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sm" len="sm"/>
            <a:tailEnd type="oval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l="-18" r="9150"/>
          <a:stretch/>
        </p:blipFill>
        <p:spPr>
          <a:xfrm>
            <a:off x="10522967" y="22401"/>
            <a:ext cx="1669031" cy="64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5"/>
          <p:cNvCxnSpPr/>
          <p:nvPr/>
        </p:nvCxnSpPr>
        <p:spPr>
          <a:xfrm>
            <a:off x="0" y="707583"/>
            <a:ext cx="1185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16095C-FD2E-39C7-AE79-405C0799BD75}"/>
              </a:ext>
            </a:extLst>
          </p:cNvPr>
          <p:cNvSpPr txBox="1"/>
          <p:nvPr/>
        </p:nvSpPr>
        <p:spPr>
          <a:xfrm>
            <a:off x="366292" y="4311888"/>
            <a:ext cx="5354317" cy="276999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>
                <a:cs typeface="Segoe UI" panose="020B0502040204020203" pitchFamily="34" charset="0"/>
              </a:rPr>
              <a:t>Driver GAD &amp; Unit Observation  </a:t>
            </a:r>
          </a:p>
        </p:txBody>
      </p:sp>
      <p:sp>
        <p:nvSpPr>
          <p:cNvPr id="2" name="Google Shape;94;p16">
            <a:extLst>
              <a:ext uri="{FF2B5EF4-FFF2-40B4-BE49-F238E27FC236}">
                <a16:creationId xmlns:a16="http://schemas.microsoft.com/office/drawing/2014/main" id="{8828F878-CB1E-28BD-F15B-ADF115BE4E6A}"/>
              </a:ext>
            </a:extLst>
          </p:cNvPr>
          <p:cNvSpPr txBox="1"/>
          <p:nvPr/>
        </p:nvSpPr>
        <p:spPr>
          <a:xfrm>
            <a:off x="322250" y="707583"/>
            <a:ext cx="5334281" cy="6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100"/>
            </a:pPr>
            <a:r>
              <a:rPr lang="en" sz="2000" b="1" dirty="0"/>
              <a:t>Background</a:t>
            </a:r>
            <a:endParaRPr sz="2000" b="1" dirty="0"/>
          </a:p>
        </p:txBody>
      </p:sp>
      <p:cxnSp>
        <p:nvCxnSpPr>
          <p:cNvPr id="3" name="Google Shape;95;p16">
            <a:extLst>
              <a:ext uri="{FF2B5EF4-FFF2-40B4-BE49-F238E27FC236}">
                <a16:creationId xmlns:a16="http://schemas.microsoft.com/office/drawing/2014/main" id="{7A823858-E4D2-49D5-D3C7-EDC6C6927A01}"/>
              </a:ext>
            </a:extLst>
          </p:cNvPr>
          <p:cNvCxnSpPr>
            <a:cxnSpLocks/>
          </p:cNvCxnSpPr>
          <p:nvPr/>
        </p:nvCxnSpPr>
        <p:spPr>
          <a:xfrm>
            <a:off x="353794" y="864582"/>
            <a:ext cx="0" cy="283574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FE48ACA-76A4-B065-BFA6-823DA10ECF07}"/>
              </a:ext>
            </a:extLst>
          </p:cNvPr>
          <p:cNvSpPr txBox="1"/>
          <p:nvPr/>
        </p:nvSpPr>
        <p:spPr>
          <a:xfrm>
            <a:off x="452473" y="1230022"/>
            <a:ext cx="526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0825" indent="-250825">
              <a:buFont typeface="+mj-lt"/>
              <a:buAutoNum type="arabicPeriod"/>
            </a:pPr>
            <a:r>
              <a:rPr lang="en-US" sz="1200" dirty="0"/>
              <a:t>Cabin scent is part of the “in-car experience” layer (comfort &amp; premium feel), not only “air freshener”.</a:t>
            </a:r>
          </a:p>
          <a:p>
            <a:pPr marL="250825" indent="-250825">
              <a:buFont typeface="+mj-lt"/>
              <a:buAutoNum type="arabicPeriod"/>
            </a:pPr>
            <a:r>
              <a:rPr lang="en-US" sz="1200" dirty="0"/>
              <a:t>Fragrance can influence </a:t>
            </a:r>
            <a:r>
              <a:rPr lang="en-US" sz="1200" b="1" dirty="0"/>
              <a:t>driver state</a:t>
            </a:r>
            <a:r>
              <a:rPr lang="en-US" sz="1200" dirty="0"/>
              <a:t> and </a:t>
            </a:r>
            <a:r>
              <a:rPr lang="en-US" sz="1200" b="1" dirty="0"/>
              <a:t>perceived cabin quality</a:t>
            </a:r>
            <a:r>
              <a:rPr lang="en-US" sz="1200" dirty="0"/>
              <a:t>.</a:t>
            </a:r>
          </a:p>
        </p:txBody>
      </p:sp>
      <p:pic>
        <p:nvPicPr>
          <p:cNvPr id="24" name="Picture 23" descr="A group of men standing in a room&#10;&#10;Description automatically generated">
            <a:extLst>
              <a:ext uri="{FF2B5EF4-FFF2-40B4-BE49-F238E27FC236}">
                <a16:creationId xmlns:a16="http://schemas.microsoft.com/office/drawing/2014/main" id="{350C6ACF-624E-B2E1-AC11-013D98B23D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2"/>
          <a:stretch>
            <a:fillRect/>
          </a:stretch>
        </p:blipFill>
        <p:spPr>
          <a:xfrm>
            <a:off x="380042" y="4665273"/>
            <a:ext cx="1260719" cy="863733"/>
          </a:xfrm>
          <a:prstGeom prst="round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D1BF2B0-DE6A-2E7D-ECB7-FF5BD4129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5" t="16346" r="18875"/>
          <a:stretch>
            <a:fillRect/>
          </a:stretch>
        </p:blipFill>
        <p:spPr>
          <a:xfrm>
            <a:off x="380042" y="5562736"/>
            <a:ext cx="1260720" cy="825875"/>
          </a:xfrm>
          <a:prstGeom prst="round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A06AF42-8DBF-5541-AABF-385C7C54626F}"/>
              </a:ext>
            </a:extLst>
          </p:cNvPr>
          <p:cNvSpPr txBox="1"/>
          <p:nvPr/>
        </p:nvSpPr>
        <p:spPr>
          <a:xfrm>
            <a:off x="1778400" y="4650955"/>
            <a:ext cx="3935919" cy="861774"/>
          </a:xfrm>
          <a:prstGeom prst="roundRect">
            <a:avLst>
              <a:gd name="adj" fmla="val 0"/>
            </a:avLst>
          </a:prstGeom>
          <a:noFill/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dirty="0">
                <a:cs typeface="Segoe UI"/>
              </a:rPr>
              <a:t>Feedback :</a:t>
            </a:r>
          </a:p>
          <a:p>
            <a:r>
              <a:rPr lang="en-ID" sz="1200" dirty="0">
                <a:ea typeface="Calibri"/>
                <a:cs typeface="Segoe UI" panose="020B0502040204020203" pitchFamily="34" charset="0"/>
              </a:rPr>
              <a:t>The</a:t>
            </a:r>
            <a:r>
              <a:rPr lang="en-ID" sz="1200" dirty="0">
                <a:ea typeface="+mn-lt"/>
                <a:cs typeface="Segoe UI" panose="020B0502040204020203" pitchFamily="34" charset="0"/>
              </a:rPr>
              <a:t> issue with the drowsiness detection in the Alphard is that it's </a:t>
            </a:r>
            <a:r>
              <a:rPr lang="en-ID" sz="1200" b="1" dirty="0">
                <a:ea typeface="+mn-lt"/>
                <a:cs typeface="Segoe UI" panose="020B0502040204020203" pitchFamily="34" charset="0"/>
              </a:rPr>
              <a:t>overly sensitive and the buzzer is very loud,</a:t>
            </a:r>
            <a:r>
              <a:rPr lang="en-ID" sz="1200" dirty="0">
                <a:ea typeface="+mn-lt"/>
                <a:cs typeface="Segoe UI" panose="020B0502040204020203" pitchFamily="34" charset="0"/>
              </a:rPr>
              <a:t> which </a:t>
            </a:r>
            <a:r>
              <a:rPr lang="en-ID" sz="1200" b="1" dirty="0">
                <a:ea typeface="+mn-lt"/>
                <a:cs typeface="Segoe UI" panose="020B0502040204020203" pitchFamily="34" charset="0"/>
              </a:rPr>
              <a:t>disturbs</a:t>
            </a:r>
            <a:r>
              <a:rPr lang="en-ID" sz="1200" dirty="0">
                <a:ea typeface="+mn-lt"/>
                <a:cs typeface="Segoe UI" panose="020B0502040204020203" pitchFamily="34" charset="0"/>
              </a:rPr>
              <a:t> the user while they are driving</a:t>
            </a:r>
            <a:endParaRPr lang="en-ID" sz="1200" dirty="0">
              <a:ea typeface="+mn-lt"/>
              <a:cs typeface="+mn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B2991B-76E3-66EB-55B3-3A6D607F1B0D}"/>
              </a:ext>
            </a:extLst>
          </p:cNvPr>
          <p:cNvSpPr txBox="1"/>
          <p:nvPr/>
        </p:nvSpPr>
        <p:spPr>
          <a:xfrm>
            <a:off x="1778400" y="5643109"/>
            <a:ext cx="3936275" cy="677108"/>
          </a:xfrm>
          <a:prstGeom prst="roundRect">
            <a:avLst>
              <a:gd name="adj" fmla="val 0"/>
            </a:avLst>
          </a:prstGeom>
          <a:solidFill>
            <a:srgbClr val="FFF2CC">
              <a:alpha val="41961"/>
            </a:srgbClr>
          </a:solidFill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dirty="0">
                <a:cs typeface="Segoe UI"/>
              </a:rPr>
              <a:t>Input:</a:t>
            </a:r>
          </a:p>
          <a:p>
            <a:r>
              <a:rPr lang="en-US" sz="1200" dirty="0">
                <a:ea typeface="+mn-lt"/>
                <a:cs typeface="Segoe UI" panose="020B0502040204020203" pitchFamily="34" charset="0"/>
              </a:rPr>
              <a:t>If the buzzer can be eliminated, perhaps it could be replaced</a:t>
            </a:r>
            <a:r>
              <a:rPr lang="en-US" sz="1200" b="1" dirty="0">
                <a:ea typeface="+mn-lt"/>
                <a:cs typeface="Segoe UI" panose="020B0502040204020203" pitchFamily="34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highlight>
                  <a:srgbClr val="008000"/>
                </a:highlight>
                <a:ea typeface="+mn-lt"/>
                <a:cs typeface="Segoe UI" panose="020B0502040204020203" pitchFamily="34" charset="0"/>
              </a:rPr>
              <a:t>with actuator like an aroma dispenser or others</a:t>
            </a:r>
            <a:endParaRPr lang="en-US" b="1" dirty="0">
              <a:solidFill>
                <a:schemeClr val="bg1"/>
              </a:solidFill>
              <a:highlight>
                <a:srgbClr val="008000"/>
              </a:highlight>
              <a:cs typeface="Segoe UI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7274F4-79B6-9CA6-D6ED-F42AFC0ECD97}"/>
              </a:ext>
            </a:extLst>
          </p:cNvPr>
          <p:cNvSpPr txBox="1"/>
          <p:nvPr/>
        </p:nvSpPr>
        <p:spPr>
          <a:xfrm>
            <a:off x="380041" y="5251932"/>
            <a:ext cx="1260720" cy="334982"/>
          </a:xfrm>
          <a:prstGeom prst="roundRect">
            <a:avLst>
              <a:gd name="adj" fmla="val 38149"/>
            </a:avLst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Karawang Driver</a:t>
            </a:r>
            <a:endParaRPr lang="en-ID" sz="1100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7D508A-32C3-012C-D6BC-92B0879E1EAC}"/>
              </a:ext>
            </a:extLst>
          </p:cNvPr>
          <p:cNvSpPr txBox="1"/>
          <p:nvPr/>
        </p:nvSpPr>
        <p:spPr>
          <a:xfrm>
            <a:off x="380041" y="6080713"/>
            <a:ext cx="1260720" cy="334982"/>
          </a:xfrm>
          <a:prstGeom prst="roundRect">
            <a:avLst>
              <a:gd name="adj" fmla="val 38149"/>
            </a:avLst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b="1" dirty="0" err="1">
                <a:solidFill>
                  <a:schemeClr val="bg1"/>
                </a:solidFill>
              </a:rPr>
              <a:t>Hiace</a:t>
            </a:r>
            <a:r>
              <a:rPr lang="en-US" sz="1100" b="1" dirty="0">
                <a:solidFill>
                  <a:schemeClr val="bg1"/>
                </a:solidFill>
              </a:rPr>
              <a:t> Commuter</a:t>
            </a:r>
            <a:endParaRPr lang="en-ID" sz="1100" b="1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055F89-D337-F517-21CB-69E98457D975}"/>
              </a:ext>
            </a:extLst>
          </p:cNvPr>
          <p:cNvSpPr txBox="1"/>
          <p:nvPr/>
        </p:nvSpPr>
        <p:spPr>
          <a:xfrm>
            <a:off x="353564" y="4017585"/>
            <a:ext cx="5510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/>
              <a:t>Mengutip</a:t>
            </a:r>
            <a:r>
              <a:rPr lang="en-US" sz="1400" b="1" dirty="0"/>
              <a:t> </a:t>
            </a:r>
            <a:r>
              <a:rPr lang="en-US" sz="1400" b="1" dirty="0" err="1"/>
              <a:t>dari</a:t>
            </a:r>
            <a:r>
              <a:rPr lang="en-US" sz="1400" b="1" dirty="0"/>
              <a:t> Group C (Driver Monitoring System Project) observation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9BF044-4441-6EF9-DB50-272F44F3721A}"/>
              </a:ext>
            </a:extLst>
          </p:cNvPr>
          <p:cNvSpPr txBox="1"/>
          <p:nvPr/>
        </p:nvSpPr>
        <p:spPr>
          <a:xfrm>
            <a:off x="445397" y="3278021"/>
            <a:ext cx="1855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/>
              <a:t>Comfort &amp; well-being</a:t>
            </a:r>
          </a:p>
        </p:txBody>
      </p:sp>
      <p:pic>
        <p:nvPicPr>
          <p:cNvPr id="1029" name="Picture 5" descr="The Impact of Seat Covers on Driving Comfort">
            <a:extLst>
              <a:ext uri="{FF2B5EF4-FFF2-40B4-BE49-F238E27FC236}">
                <a16:creationId xmlns:a16="http://schemas.microsoft.com/office/drawing/2014/main" id="{57255B10-C3C1-9771-AB73-4481395A0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67" y="2344946"/>
            <a:ext cx="1855848" cy="97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Driver fatigue | Brake">
            <a:extLst>
              <a:ext uri="{FF2B5EF4-FFF2-40B4-BE49-F238E27FC236}">
                <a16:creationId xmlns:a16="http://schemas.microsoft.com/office/drawing/2014/main" id="{712EFBE0-2791-DCA5-5BBA-0D65DC792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634" y="2344946"/>
            <a:ext cx="1723503" cy="97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How Automobile Customization is Shaping the Future of DrivingEntrapeer">
            <a:extLst>
              <a:ext uri="{FF2B5EF4-FFF2-40B4-BE49-F238E27FC236}">
                <a16:creationId xmlns:a16="http://schemas.microsoft.com/office/drawing/2014/main" id="{809A05F5-FF48-560F-A23F-37B759F31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526" y="2346892"/>
            <a:ext cx="1452545" cy="96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3F7A390-D3AF-EFB5-9792-0AE3808D2E66}"/>
              </a:ext>
            </a:extLst>
          </p:cNvPr>
          <p:cNvSpPr txBox="1"/>
          <p:nvPr/>
        </p:nvSpPr>
        <p:spPr>
          <a:xfrm>
            <a:off x="2416281" y="3278021"/>
            <a:ext cx="1713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/>
              <a:t>Fatigue / alertness during driving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8C0018-E6CF-7E8D-FDE3-D2E402F4678B}"/>
              </a:ext>
            </a:extLst>
          </p:cNvPr>
          <p:cNvSpPr txBox="1"/>
          <p:nvPr/>
        </p:nvSpPr>
        <p:spPr>
          <a:xfrm>
            <a:off x="4231176" y="3372223"/>
            <a:ext cx="14525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/>
              <a:t>Personalization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1DA2F20-A8A1-A350-DD8F-59B398472EDA}"/>
              </a:ext>
            </a:extLst>
          </p:cNvPr>
          <p:cNvGrpSpPr/>
          <p:nvPr/>
        </p:nvGrpSpPr>
        <p:grpSpPr>
          <a:xfrm>
            <a:off x="2007962" y="6476341"/>
            <a:ext cx="7549964" cy="259676"/>
            <a:chOff x="283397" y="196269"/>
            <a:chExt cx="9968901" cy="25967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8BC51BB-03BA-45C4-0664-FF1C76FADA8D}"/>
                </a:ext>
              </a:extLst>
            </p:cNvPr>
            <p:cNvSpPr txBox="1"/>
            <p:nvPr/>
          </p:nvSpPr>
          <p:spPr>
            <a:xfrm>
              <a:off x="283397" y="196270"/>
              <a:ext cx="3276001" cy="259675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txBody>
            <a:bodyPr wrap="square" lIns="36000" tIns="0" rIns="36000" bIns="0" rtlCol="0" anchor="t">
              <a:spAutoFit/>
            </a:bodyPr>
            <a:lstStyle>
              <a:defPPr>
                <a:defRPr lang="en-US"/>
              </a:defPPr>
              <a:lvl1pPr algn="ctr" defTabSz="609539">
                <a:defRPr sz="1200" b="1">
                  <a:solidFill>
                    <a:schemeClr val="bg1"/>
                  </a:solidFill>
                  <a:latin typeface="Arial Nova"/>
                </a:defRPr>
              </a:lvl1pPr>
              <a:lvl2pPr marL="304770" defTabSz="609539">
                <a:defRPr sz="1200"/>
              </a:lvl2pPr>
              <a:lvl3pPr marL="609539" defTabSz="609539">
                <a:defRPr sz="1200"/>
              </a:lvl3pPr>
              <a:lvl4pPr marL="914309" defTabSz="609539">
                <a:defRPr sz="1200"/>
              </a:lvl4pPr>
              <a:lvl5pPr marL="1219078" defTabSz="609539">
                <a:defRPr sz="1200"/>
              </a:lvl5pPr>
              <a:lvl6pPr marL="1523848" defTabSz="609539">
                <a:defRPr sz="1200"/>
              </a:lvl6pPr>
              <a:lvl7pPr marL="1828617" defTabSz="609539">
                <a:defRPr sz="1200"/>
              </a:lvl7pPr>
              <a:lvl8pPr marL="2133387" defTabSz="609539">
                <a:defRPr sz="1200"/>
              </a:lvl8pPr>
              <a:lvl9pPr marL="2438156" defTabSz="609539">
                <a:defRPr sz="1200"/>
              </a:lvl9pPr>
            </a:lstStyle>
            <a:p>
              <a:r>
                <a:rPr lang="en-GB"/>
                <a:t>Background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1CB986-0268-5751-C0F2-0641A92FD277}"/>
                </a:ext>
              </a:extLst>
            </p:cNvPr>
            <p:cNvSpPr txBox="1"/>
            <p:nvPr/>
          </p:nvSpPr>
          <p:spPr>
            <a:xfrm>
              <a:off x="3648897" y="196269"/>
              <a:ext cx="3276001" cy="2596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36000" tIns="0" rIns="36000" bIns="0" rtlCol="0" anchor="t">
              <a:spAutoFit/>
            </a:bodyPr>
            <a:lstStyle>
              <a:defPPr>
                <a:defRPr lang="en-US"/>
              </a:defPPr>
              <a:lvl1pPr algn="ctr" defTabSz="609539">
                <a:defRPr sz="1200" b="1">
                  <a:solidFill>
                    <a:schemeClr val="bg1"/>
                  </a:solidFill>
                  <a:latin typeface="Arial Nova"/>
                </a:defRPr>
              </a:lvl1pPr>
              <a:lvl2pPr marL="304770" defTabSz="609539">
                <a:defRPr sz="1200"/>
              </a:lvl2pPr>
              <a:lvl3pPr marL="609539" defTabSz="609539">
                <a:defRPr sz="1200"/>
              </a:lvl3pPr>
              <a:lvl4pPr marL="914309" defTabSz="609539">
                <a:defRPr sz="1200"/>
              </a:lvl4pPr>
              <a:lvl5pPr marL="1219078" defTabSz="609539">
                <a:defRPr sz="1200"/>
              </a:lvl5pPr>
              <a:lvl6pPr marL="1523848" defTabSz="609539">
                <a:defRPr sz="1200"/>
              </a:lvl6pPr>
              <a:lvl7pPr marL="1828617" defTabSz="609539">
                <a:defRPr sz="1200"/>
              </a:lvl7pPr>
              <a:lvl8pPr marL="2133387" defTabSz="609539">
                <a:defRPr sz="1200"/>
              </a:lvl8pPr>
              <a:lvl9pPr marL="2438156" defTabSz="609539">
                <a:defRPr sz="1200"/>
              </a:lvl9pPr>
            </a:lstStyle>
            <a:p>
              <a:r>
                <a:rPr lang="en-GB" b="0"/>
                <a:t>Idea Solution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2B62125-CBB6-DB57-ED98-EE675DC2E86D}"/>
                </a:ext>
              </a:extLst>
            </p:cNvPr>
            <p:cNvSpPr txBox="1"/>
            <p:nvPr/>
          </p:nvSpPr>
          <p:spPr>
            <a:xfrm>
              <a:off x="6976297" y="196269"/>
              <a:ext cx="3276001" cy="25967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square" lIns="36000" tIns="0" rIns="36000" bIns="0" rtlCol="0" anchor="t">
              <a:spAutoFit/>
            </a:bodyPr>
            <a:lstStyle>
              <a:defPPr>
                <a:defRPr lang="en-US"/>
              </a:defPPr>
              <a:lvl1pPr algn="ctr" defTabSz="609539">
                <a:defRPr sz="1200" b="0">
                  <a:solidFill>
                    <a:schemeClr val="bg1"/>
                  </a:solidFill>
                  <a:latin typeface="Arial Nova"/>
                </a:defRPr>
              </a:lvl1pPr>
              <a:lvl2pPr marL="304770" defTabSz="609539">
                <a:defRPr sz="1200"/>
              </a:lvl2pPr>
              <a:lvl3pPr marL="609539" defTabSz="609539">
                <a:defRPr sz="1200"/>
              </a:lvl3pPr>
              <a:lvl4pPr marL="914309" defTabSz="609539">
                <a:defRPr sz="1200"/>
              </a:lvl4pPr>
              <a:lvl5pPr marL="1219078" defTabSz="609539">
                <a:defRPr sz="1200"/>
              </a:lvl5pPr>
              <a:lvl6pPr marL="1523848" defTabSz="609539">
                <a:defRPr sz="1200"/>
              </a:lvl6pPr>
              <a:lvl7pPr marL="1828617" defTabSz="609539">
                <a:defRPr sz="1200"/>
              </a:lvl7pPr>
              <a:lvl8pPr marL="2133387" defTabSz="609539">
                <a:defRPr sz="1200"/>
              </a:lvl8pPr>
              <a:lvl9pPr marL="2438156" defTabSz="609539">
                <a:defRPr sz="1200"/>
              </a:lvl9pPr>
            </a:lstStyle>
            <a:p>
              <a:r>
                <a:rPr lang="en-GB"/>
                <a:t>Progress of Development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86C77E64-87C7-A6E1-8765-F04DF6AEE726}"/>
              </a:ext>
            </a:extLst>
          </p:cNvPr>
          <p:cNvSpPr txBox="1"/>
          <p:nvPr/>
        </p:nvSpPr>
        <p:spPr>
          <a:xfrm>
            <a:off x="344802" y="1912625"/>
            <a:ext cx="5488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Impacts (what fragrance can affect)</a:t>
            </a:r>
            <a:endParaRPr 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1919F8-B7DD-4F3D-E9D6-ED93D0226270}"/>
              </a:ext>
            </a:extLst>
          </p:cNvPr>
          <p:cNvSpPr txBox="1"/>
          <p:nvPr/>
        </p:nvSpPr>
        <p:spPr>
          <a:xfrm>
            <a:off x="285168" y="3700276"/>
            <a:ext cx="54291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/>
              <a:t>Source: Ma, X. (2026). Effects of odor types and concentration adjustment modes of olfactory stimulation on fatigue in young </a:t>
            </a:r>
            <a:r>
              <a:rPr lang="en-US" sz="800" i="1" dirty="0">
                <a:hlinkClick r:id="rId9"/>
              </a:rPr>
              <a:t>https://doi.org/10.1016/j.trf.2026.103528</a:t>
            </a:r>
            <a:r>
              <a:rPr lang="en-US" sz="800" i="1" dirty="0"/>
              <a:t> 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91264DFD-9130-1D0E-896E-A3D1AA6BB2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0560" y="2410561"/>
            <a:ext cx="472537" cy="472537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EF7026B7-AC7A-604D-5A2B-BC950387B0D1}"/>
              </a:ext>
            </a:extLst>
          </p:cNvPr>
          <p:cNvGrpSpPr/>
          <p:nvPr/>
        </p:nvGrpSpPr>
        <p:grpSpPr>
          <a:xfrm>
            <a:off x="5802985" y="863708"/>
            <a:ext cx="299720" cy="5456509"/>
            <a:chOff x="4229100" y="1502393"/>
            <a:chExt cx="299720" cy="5456509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2E4DC3E-2560-8EEF-A53B-630A9739C04F}"/>
                </a:ext>
              </a:extLst>
            </p:cNvPr>
            <p:cNvCxnSpPr>
              <a:cxnSpLocks/>
            </p:cNvCxnSpPr>
            <p:nvPr/>
          </p:nvCxnSpPr>
          <p:spPr>
            <a:xfrm>
              <a:off x="4378960" y="1502393"/>
              <a:ext cx="0" cy="5456509"/>
            </a:xfrm>
            <a:prstGeom prst="line">
              <a:avLst/>
            </a:prstGeom>
            <a:ln w="12700">
              <a:solidFill>
                <a:srgbClr val="4472C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7B23583-ADDE-9409-0F7D-8E4791151374}"/>
                </a:ext>
              </a:extLst>
            </p:cNvPr>
            <p:cNvSpPr/>
            <p:nvPr/>
          </p:nvSpPr>
          <p:spPr>
            <a:xfrm>
              <a:off x="4229100" y="4189101"/>
              <a:ext cx="299720" cy="299720"/>
            </a:xfrm>
            <a:prstGeom prst="ellipse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1703973F-BE90-8AC5-F6A7-BA0C29674665}"/>
                </a:ext>
              </a:extLst>
            </p:cNvPr>
            <p:cNvSpPr/>
            <p:nvPr/>
          </p:nvSpPr>
          <p:spPr>
            <a:xfrm>
              <a:off x="4305563" y="4240821"/>
              <a:ext cx="178808" cy="196279"/>
            </a:xfrm>
            <a:prstGeom prst="chevron">
              <a:avLst/>
            </a:prstGeom>
            <a:solidFill>
              <a:schemeClr val="bg1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tx1"/>
                </a:solidFill>
              </a:endParaRPr>
            </a:p>
          </p:txBody>
        </p:sp>
      </p:grpSp>
      <p:cxnSp>
        <p:nvCxnSpPr>
          <p:cNvPr id="68" name="Google Shape;95;p16">
            <a:extLst>
              <a:ext uri="{FF2B5EF4-FFF2-40B4-BE49-F238E27FC236}">
                <a16:creationId xmlns:a16="http://schemas.microsoft.com/office/drawing/2014/main" id="{1696F647-823C-09A6-762D-276244927C76}"/>
              </a:ext>
            </a:extLst>
          </p:cNvPr>
          <p:cNvCxnSpPr>
            <a:cxnSpLocks/>
          </p:cNvCxnSpPr>
          <p:nvPr/>
        </p:nvCxnSpPr>
        <p:spPr>
          <a:xfrm flipV="1">
            <a:off x="353794" y="1937009"/>
            <a:ext cx="0" cy="230129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95;p16">
            <a:extLst>
              <a:ext uri="{FF2B5EF4-FFF2-40B4-BE49-F238E27FC236}">
                <a16:creationId xmlns:a16="http://schemas.microsoft.com/office/drawing/2014/main" id="{997F0601-360B-EC54-1356-3DD8019A0E8B}"/>
              </a:ext>
            </a:extLst>
          </p:cNvPr>
          <p:cNvCxnSpPr>
            <a:cxnSpLocks/>
          </p:cNvCxnSpPr>
          <p:nvPr/>
        </p:nvCxnSpPr>
        <p:spPr>
          <a:xfrm>
            <a:off x="353564" y="4101266"/>
            <a:ext cx="230" cy="140414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Google Shape;94;p16">
            <a:extLst>
              <a:ext uri="{FF2B5EF4-FFF2-40B4-BE49-F238E27FC236}">
                <a16:creationId xmlns:a16="http://schemas.microsoft.com/office/drawing/2014/main" id="{7EFC44D8-11B7-5FF1-C219-FBB8C6DB67C6}"/>
              </a:ext>
            </a:extLst>
          </p:cNvPr>
          <p:cNvSpPr txBox="1"/>
          <p:nvPr/>
        </p:nvSpPr>
        <p:spPr>
          <a:xfrm>
            <a:off x="6073501" y="776754"/>
            <a:ext cx="5334281" cy="6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100"/>
            </a:pPr>
            <a:r>
              <a:rPr lang="en" sz="2000" b="1" dirty="0"/>
              <a:t>Workflow</a:t>
            </a:r>
            <a:endParaRPr sz="2000" b="1" dirty="0"/>
          </a:p>
        </p:txBody>
      </p:sp>
      <p:cxnSp>
        <p:nvCxnSpPr>
          <p:cNvPr id="74" name="Google Shape;95;p16">
            <a:extLst>
              <a:ext uri="{FF2B5EF4-FFF2-40B4-BE49-F238E27FC236}">
                <a16:creationId xmlns:a16="http://schemas.microsoft.com/office/drawing/2014/main" id="{87C791F9-0633-DFFC-314A-C529FC30AE6A}"/>
              </a:ext>
            </a:extLst>
          </p:cNvPr>
          <p:cNvCxnSpPr>
            <a:cxnSpLocks/>
          </p:cNvCxnSpPr>
          <p:nvPr/>
        </p:nvCxnSpPr>
        <p:spPr>
          <a:xfrm>
            <a:off x="6091295" y="933753"/>
            <a:ext cx="0" cy="283574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95C0350E-373C-48D9-B6CE-6D33B93BD7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082" y="1566443"/>
            <a:ext cx="2166438" cy="832922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B482B98-022A-973B-170B-D8DA90888CF8}"/>
              </a:ext>
            </a:extLst>
          </p:cNvPr>
          <p:cNvSpPr txBox="1"/>
          <p:nvPr/>
        </p:nvSpPr>
        <p:spPr>
          <a:xfrm>
            <a:off x="6065817" y="1282548"/>
            <a:ext cx="4346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Benchmark from Toyota Smart Fragrance (TAM Product by TCO)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50AAAF82-00C9-91DB-6939-34EB0EB64D3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625" y="1573797"/>
            <a:ext cx="1293110" cy="843041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7E1D2321-7CDF-5CEA-4E4E-C4EF1608A244}"/>
              </a:ext>
            </a:extLst>
          </p:cNvPr>
          <p:cNvSpPr txBox="1"/>
          <p:nvPr/>
        </p:nvSpPr>
        <p:spPr>
          <a:xfrm>
            <a:off x="7242988" y="2413615"/>
            <a:ext cx="35983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200" dirty="0"/>
              <a:t>Installed with integration to car’s electrical source.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1F85E52B-868A-23EB-FD1F-C70A545E3E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3003" y="2763849"/>
            <a:ext cx="760649" cy="1411246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8D5E72F1-CDFE-D908-0900-DC45260FC71C}"/>
              </a:ext>
            </a:extLst>
          </p:cNvPr>
          <p:cNvSpPr txBox="1"/>
          <p:nvPr/>
        </p:nvSpPr>
        <p:spPr>
          <a:xfrm>
            <a:off x="7037914" y="2759498"/>
            <a:ext cx="17671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/>
              <a:t>Remote control &amp; App</a:t>
            </a: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6E5E2B05-DF64-11E0-02B5-762D8628D1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5396" y="1566443"/>
            <a:ext cx="2166438" cy="862328"/>
          </a:xfrm>
          <a:prstGeom prst="rect">
            <a:avLst/>
          </a:prstGeom>
        </p:spPr>
      </p:pic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FD558243-B014-DE0F-7412-8019B6309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95248"/>
              </p:ext>
            </p:extLst>
          </p:nvPr>
        </p:nvGraphicFramePr>
        <p:xfrm>
          <a:off x="8210615" y="7082222"/>
          <a:ext cx="5261356" cy="2560320"/>
        </p:xfrm>
        <a:graphic>
          <a:graphicData uri="http://schemas.openxmlformats.org/drawingml/2006/table">
            <a:tbl>
              <a:tblPr/>
              <a:tblGrid>
                <a:gridCol w="1481836">
                  <a:extLst>
                    <a:ext uri="{9D8B030D-6E8A-4147-A177-3AD203B41FA5}">
                      <a16:colId xmlns:a16="http://schemas.microsoft.com/office/drawing/2014/main" val="2527969976"/>
                    </a:ext>
                  </a:extLst>
                </a:gridCol>
                <a:gridCol w="1850181">
                  <a:extLst>
                    <a:ext uri="{9D8B030D-6E8A-4147-A177-3AD203B41FA5}">
                      <a16:colId xmlns:a16="http://schemas.microsoft.com/office/drawing/2014/main" val="2240364590"/>
                    </a:ext>
                  </a:extLst>
                </a:gridCol>
                <a:gridCol w="1929339">
                  <a:extLst>
                    <a:ext uri="{9D8B030D-6E8A-4147-A177-3AD203B41FA5}">
                      <a16:colId xmlns:a16="http://schemas.microsoft.com/office/drawing/2014/main" val="1285035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Item​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Toyota Scents​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Lepas L8​</a:t>
                      </a:r>
                      <a:endParaRPr lang="en-US" sz="12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8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Headunit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Control​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✗</a:t>
                      </a:r>
                      <a:r>
                        <a:rPr lang="en-ID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​</a:t>
                      </a:r>
                      <a:endParaRPr lang="en-ID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ID" sz="1200" b="0" i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✓​</a:t>
                      </a:r>
                      <a:endParaRPr lang="en-ID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70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Apps Control​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ID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✓​</a:t>
                      </a:r>
                      <a:endParaRPr lang="en-ID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ID" sz="1200" b="0" i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✓​</a:t>
                      </a:r>
                      <a:endParaRPr lang="en-ID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466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Ceramic Core 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(No Free Liquid)​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ID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✓​</a:t>
                      </a:r>
                      <a:endParaRPr lang="en-ID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ID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✓​</a:t>
                      </a:r>
                      <a:endParaRPr lang="en-ID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832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Adjustable Intensity​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ID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✓​</a:t>
                      </a:r>
                      <a:endParaRPr lang="en-ID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ID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✓​</a:t>
                      </a:r>
                      <a:endParaRPr lang="en-ID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54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 of Cartridges​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2​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3​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134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Durability Cartridges​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3 Month​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3 Month​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02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Type​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Accessories ​(IDR 1.7 Million)​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Factory-integrated​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Segoe Ul"/>
                        </a:rPr>
                        <a:t>OEM​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813545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BFA8B150-1018-31FE-B52E-41A8A5F8DF2F}"/>
              </a:ext>
            </a:extLst>
          </p:cNvPr>
          <p:cNvSpPr txBox="1"/>
          <p:nvPr/>
        </p:nvSpPr>
        <p:spPr>
          <a:xfrm>
            <a:off x="6058256" y="4282213"/>
            <a:ext cx="17671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/>
              <a:t>Note</a:t>
            </a:r>
          </a:p>
          <a:p>
            <a:r>
              <a:rPr lang="en-ID" sz="1200" dirty="0"/>
              <a:t>Paragon </a:t>
            </a:r>
          </a:p>
          <a:p>
            <a:r>
              <a:rPr lang="en-ID" sz="1200" dirty="0" err="1"/>
              <a:t>abisin</a:t>
            </a:r>
            <a:r>
              <a:rPr lang="en-ID" sz="1200" dirty="0"/>
              <a:t> </a:t>
            </a:r>
            <a:r>
              <a:rPr lang="en-ID" sz="1200" dirty="0" err="1"/>
              <a:t>waktu</a:t>
            </a:r>
            <a:r>
              <a:rPr lang="en-ID" sz="1200" dirty="0"/>
              <a:t> di </a:t>
            </a:r>
            <a:r>
              <a:rPr lang="en-ID" sz="1200" dirty="0" err="1"/>
              <a:t>rumah</a:t>
            </a:r>
            <a:r>
              <a:rPr lang="en-ID" sz="1200" dirty="0"/>
              <a:t>, </a:t>
            </a:r>
            <a:r>
              <a:rPr lang="en-ID" sz="1200" dirty="0" err="1"/>
              <a:t>kedua</a:t>
            </a:r>
            <a:r>
              <a:rPr lang="en-ID" sz="1200" dirty="0"/>
              <a:t> di </a:t>
            </a:r>
            <a:r>
              <a:rPr lang="en-ID" sz="1200" dirty="0" err="1"/>
              <a:t>mobil</a:t>
            </a:r>
            <a:r>
              <a:rPr lang="en-ID" sz="1200" dirty="0"/>
              <a:t>, </a:t>
            </a:r>
          </a:p>
          <a:p>
            <a:r>
              <a:rPr lang="en-ID" sz="1200" dirty="0" err="1"/>
              <a:t>Tambahin</a:t>
            </a:r>
            <a:r>
              <a:rPr lang="en-ID" sz="1200" dirty="0"/>
              <a:t> background </a:t>
            </a:r>
            <a:r>
              <a:rPr lang="en-ID" sz="1200" dirty="0" err="1"/>
              <a:t>biar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banyak</a:t>
            </a:r>
            <a:r>
              <a:rPr lang="en-ID" sz="1200" dirty="0"/>
              <a:t> dan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kuat</a:t>
            </a:r>
            <a:endParaRPr lang="en-ID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282</Words>
  <Application>Microsoft Office PowerPoint</Application>
  <PresentationFormat>Widescreen</PresentationFormat>
  <Paragraphs>54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Mochamad Raihan Hermawan</dc:creator>
  <cp:lastModifiedBy>Mochamad Hermawan</cp:lastModifiedBy>
  <cp:revision>2</cp:revision>
  <dcterms:created xsi:type="dcterms:W3CDTF">2026-02-21T09:02:00Z</dcterms:created>
  <dcterms:modified xsi:type="dcterms:W3CDTF">2026-02-23T09:38:03Z</dcterms:modified>
</cp:coreProperties>
</file>